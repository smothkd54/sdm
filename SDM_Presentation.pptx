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8FB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Steepest Descent Method (SDM)</a:t>
            </a:r>
          </a:p>
          <a:p>
            <a:r>
              <a:rPr sz="2200" b="0" i="1">
                <a:solidFill>
                  <a:srgbClr val="C7D4E8"/>
                </a:solidFill>
                <a:latin typeface="Calibri"/>
              </a:rPr>
              <a:t>A 1D Projection Method for SPD Linear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9FB8DE"/>
                </a:solidFill>
                <a:latin typeface="Calibri"/>
              </a:rPr>
              <a:t>Student: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Адейеми Коладе Дамилола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9FB8DE"/>
                </a:solidFill>
                <a:latin typeface="Calibri"/>
              </a:rPr>
              <a:t>Course: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Numerical Methods of Linear Algebra for Sparse Matrices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9FB8DE"/>
                </a:solidFill>
                <a:latin typeface="Calibri"/>
              </a:rPr>
              <a:t>Lecturer: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Anna Nasedkina, PhD, Assoc. Prof.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9FB8DE"/>
                </a:solidFill>
                <a:latin typeface="Calibri"/>
              </a:rPr>
              <a:t>Project: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SDM   •   Southern Federal University   • 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7D4E8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Goal: solve A x = b for large SPD systems arising from PDE discretisation (e.g. Poisson).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Direct methods (LU / Cholesky): O(n³) work, O(n²) memory, and fill-in destroys sparsity.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Iterative projection methods use only matrix-vector products (O(nnz)/step) and preserve sparsity.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SDM is the simplest 1D projection method — the conceptual building block for CG and Krylov methods.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Requirement: A must be symmetric positive definite (SPD).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SDM as a 1D Projection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7D4E8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Projection framework: seek x̃ = x0 + δ, δ ∈ K, with residual r ⊥ L (Petrov–Galerkin).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SDM chooses K = L = span{ r_k }  →  orthogonal projection (A is SPD).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Equivalent view: minimise the quadratic functional f(x) = ½(A x, x) − (b, x).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Gradient ∇f(x) = A x − b = −r  →  steepest-descent direction is the residual 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709160"/>
            <a:ext cx="9966960" cy="914400"/>
          </a:xfrm>
          <a:prstGeom prst="rect">
            <a:avLst/>
          </a:prstGeom>
          <a:solidFill>
            <a:srgbClr val="EEF2F8"/>
          </a:solidFill>
          <a:ln>
            <a:solidFill>
              <a:srgbClr val="C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700" b="0" i="0">
                <a:solidFill>
                  <a:srgbClr val="1F3864"/>
                </a:solidFill>
                <a:latin typeface="Consolas"/>
              </a:rPr>
              <a:t>x_{k+1} = x_k + α_k r_k ,      α_k = (r_k , r_k) / (A r_k , r_k)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Algorithm — Modified SDM (1 MVP/iteration)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7D4E8"/>
                </a:solidFill>
                <a:latin typeface="Calibri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680960" cy="4023360"/>
          </a:xfrm>
          <a:prstGeom prst="rect">
            <a:avLst/>
          </a:prstGeom>
          <a:solidFill>
            <a:srgbClr val="EEF2F8"/>
          </a:solidFill>
          <a:ln>
            <a:solidFill>
              <a:srgbClr val="C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500" b="0" i="0">
                <a:solidFill>
                  <a:srgbClr val="1F3864"/>
                </a:solidFill>
                <a:latin typeface="Consolas"/>
              </a:rPr>
              <a:t>Input : A (SPD), b, x0, tol, kmax</a:t>
            </a:r>
          </a:p>
          <a:p>
            <a:r>
              <a:rPr sz="1500" b="0" i="0">
                <a:solidFill>
                  <a:srgbClr val="1F3864"/>
                </a:solidFill>
                <a:latin typeface="Consolas"/>
              </a:rPr>
              <a:t>r0 = b - A*x0 ;   p0 = A*r0</a:t>
            </a:r>
          </a:p>
          <a:p>
            <a:r>
              <a:rPr sz="1500" b="0" i="0">
                <a:solidFill>
                  <a:srgbClr val="1F3864"/>
                </a:solidFill>
                <a:latin typeface="Consolas"/>
              </a:rPr>
              <a:t>for k = 0,1,2,...</a:t>
            </a:r>
          </a:p>
          <a:p>
            <a:r>
              <a:rPr sz="1500" b="0" i="0">
                <a:solidFill>
                  <a:srgbClr val="1F3864"/>
                </a:solidFill>
                <a:latin typeface="Consolas"/>
              </a:rPr>
              <a:t>    if  ||r_k||_2 / ||b||_2 &lt; tol   -&gt;  stop</a:t>
            </a:r>
          </a:p>
          <a:p>
            <a:r>
              <a:rPr sz="1500" b="0" i="0">
                <a:solidFill>
                  <a:srgbClr val="1F3864"/>
                </a:solidFill>
                <a:latin typeface="Consolas"/>
              </a:rPr>
              <a:t>    alpha_k = (r_k , r_k) / (p_k , r_k)      % p_k = A r_k</a:t>
            </a:r>
          </a:p>
          <a:p>
            <a:r>
              <a:rPr sz="1500" b="0" i="0">
                <a:solidFill>
                  <a:srgbClr val="1F3864"/>
                </a:solidFill>
                <a:latin typeface="Consolas"/>
              </a:rPr>
              <a:t>    x_{k+1} = x_k + alpha_k * r_k</a:t>
            </a:r>
          </a:p>
          <a:p>
            <a:r>
              <a:rPr sz="1500" b="0" i="0">
                <a:solidFill>
                  <a:srgbClr val="1F3864"/>
                </a:solidFill>
                <a:latin typeface="Consolas"/>
              </a:rPr>
              <a:t>    r_{k+1} = r_k - alpha_k * p_k            % recurrence (saves 1 MVP)</a:t>
            </a:r>
          </a:p>
          <a:p>
            <a:r>
              <a:rPr sz="1500" b="0" i="0">
                <a:solidFill>
                  <a:srgbClr val="1F3864"/>
                </a:solidFill>
                <a:latin typeface="Consolas"/>
              </a:rPr>
              <a:t>    p_{k+1} = A * r_{k+1}</a:t>
            </a:r>
          </a:p>
          <a:p>
            <a:r>
              <a:rPr sz="1500" b="0" i="0">
                <a:solidFill>
                  <a:srgbClr val="1F3864"/>
                </a:solidFill>
                <a:latin typeface="Consolas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4630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Only ONE product A·r per iteration.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Stop on the RELATIVE residual ‖r‖₂/‖b‖₂.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Returns x, r, ‖r‖₂, ‖r‖₂/‖b‖₂, k.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Convergence checked inside the function.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MATLAB Implementation (SDM.m)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7D4E8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8321040" cy="4297680"/>
          </a:xfrm>
          <a:prstGeom prst="rect">
            <a:avLst/>
          </a:prstGeom>
          <a:solidFill>
            <a:srgbClr val="EEF2F8"/>
          </a:solidFill>
          <a:ln>
            <a:solidFill>
              <a:srgbClr val="C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300" b="0" i="0">
                <a:solidFill>
                  <a:srgbClr val="1F3864"/>
                </a:solidFill>
                <a:latin typeface="Consolas"/>
              </a:rPr>
              <a:t>function [x,r,rnorm,relres,k,rnorm_hist] = SDM(A,b,x0,tol,kmax)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x = x0;   r = b - A*x;   p = A*r;        % p = A r  (one MVP)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nb = norm(b,2);   if nb==0, nb = 1; end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rnorm = norm(r,2);   rnorm_hist(1) = rnorm;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for k = 0:kmax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   if rnorm/nb &lt; tol || k==kmax, break; end   % rel. residual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   Ar = p;   alpha = (r'*r)/(r'*Ar);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   x = x + alpha*r;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   r = r - alpha*Ar;              % residual recurrence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   p = A*r;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   rnorm = norm(r,2);   rnorm_hist(k+2) = rnorm;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end</a:t>
            </a:r>
          </a:p>
          <a:p>
            <a:r>
              <a:rPr sz="1300" b="0" i="0">
                <a:solidFill>
                  <a:srgbClr val="1F3864"/>
                </a:solidFill>
                <a:latin typeface="Consolas"/>
              </a:rPr>
              <a:t>  relres = rnorm/nb;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Modified SDM: 1 MVP/iter.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Returns ‖r‖₂ and ‖r‖₂/‖b‖₂.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Norms explicit 2-norm.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SPD checked via chol.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Convergence Theory (Lecture 12, Thm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7D4E8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If A is SPD, SDM converges for ANY initial guess x0.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Error decreases monotonically in the A-norm  ‖v‖_A = √(A v, v).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88920"/>
            <a:ext cx="10332720" cy="868680"/>
          </a:xfrm>
          <a:prstGeom prst="rect">
            <a:avLst/>
          </a:prstGeom>
          <a:solidFill>
            <a:srgbClr val="EEF2F8"/>
          </a:solidFill>
          <a:ln>
            <a:solidFill>
              <a:srgbClr val="C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600" b="0" i="0">
                <a:solidFill>
                  <a:srgbClr val="1F3864"/>
                </a:solidFill>
                <a:latin typeface="Consolas"/>
              </a:rPr>
              <a:t>||x_{k+1} - x*||_A  ≤  (κ - 1)/(κ + 1) · ||x_k - x*||_A ,     κ = λmax/λmin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Contraction factor (κ−1)/(κ+1): κ = 2.84 → 0.48 (fast); κ = 4.3×10⁴ → 0.99995 (stalls).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Convergence speed depends on the CONDITIONING of A, not its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Numerical Results — Accuracy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7D4E8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864"/>
                </a:solidFill>
                <a:latin typeface="Calibri"/>
              </a:rPr>
              <a:t>Test 1 (3×3): exact solution in 56 iters, error 3.0e-12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5577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115568"/>
                <a:gridCol w="1115568"/>
                <a:gridCol w="1115568"/>
                <a:gridCol w="1115568"/>
              </a:tblGrid>
              <a:tr h="4800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κ(A)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Iters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CPU (s)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Rel.err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/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4.66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0.0012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1.3e-6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/>
                        <a:t>1000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4.97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31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0.0020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1.1e-6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/>
                        <a:t>3000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4.99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0.0204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1.4e-6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Scaling (n = 100/1000/3000): iterations ≈ const (κ fixed ≈ 5),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CPU grows with n  →  cost is per-iteration MVP, not iteration count.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Confirms SDM depends on conditioning, not size.</a:t>
            </a:r>
          </a:p>
        </p:txBody>
      </p:sp>
      <p:pic>
        <p:nvPicPr>
          <p:cNvPr id="7" name="Picture 6" descr="fig_sdm_well_vs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48640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532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Calibri"/>
              </a:rPr>
              <a:t>Well- vs ill-conditioned: κ decides convergence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Real Matrix Market Matrices vs 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7D4E8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Real SPD matrices via mmread: gr_30_30 (900×900),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bcsstk01 (48×48). SPD verified: ‖A−Aᵀ‖₁ = 0, chol p = 0.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42316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Matrix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Iters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Conv.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/>
                        <a:t>gr_30_30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3.8e2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SDM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/>
                        <a:t>gr_30_30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3.8e2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CG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52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Yes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/>
                        <a:t>bcsstk01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1.6e6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SDM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/>
                        <a:t>bcsstk01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1.6e6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CG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78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Yes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9204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Well-conditioned gr_30_30: SDM converges (455), CG faster (52).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Ill-conditioned bcsstk01 (κ=1.6e6): SDM STALLS, CG still works.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Real data confirms: SDM collapses as κ grows → use CG.</a:t>
            </a:r>
          </a:p>
        </p:txBody>
      </p:sp>
      <p:pic>
        <p:nvPicPr>
          <p:cNvPr id="7" name="Picture 6" descr="fig_sdm_gr_30_30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34440"/>
            <a:ext cx="5486400" cy="2560320"/>
          </a:xfrm>
          <a:prstGeom prst="rect">
            <a:avLst/>
          </a:prstGeom>
        </p:spPr>
      </p:pic>
      <p:pic>
        <p:nvPicPr>
          <p:cNvPr id="8" name="Picture 7" descr="fig_sdm_bcsstk01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977639"/>
            <a:ext cx="548640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gr_30_30 converges (top) — bcsstk01 stagnates (bottom)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7D4E8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Strengths:</a:t>
            </a:r>
          </a:p>
          <a:p>
            <a:pPr lvl="1">
              <a:spcAft>
                <a:spcPts val="7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Simple; one MVP per step (O(nnz)); guaranteed convergence for any SPD A and any x0.</a:t>
            </a:r>
          </a:p>
          <a:p>
            <a:pPr lvl="1">
              <a:spcAft>
                <a:spcPts val="7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Monotonic error decrease in the A-norm.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Limitations:</a:t>
            </a:r>
          </a:p>
          <a:p>
            <a:pPr lvl="1">
              <a:spcAft>
                <a:spcPts val="7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Rate (κ−1)/(κ+1): very slow for ill-conditioned systems (Test 4).</a:t>
            </a:r>
          </a:p>
          <a:p>
            <a:pPr lvl="1">
              <a:spcAft>
                <a:spcPts val="7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SPD only; zig-zag directions are sub-optimal — CG is strictly better.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Future work: Conjugate Gradient (A-orthogonal directions); GMRES for nonsymmetric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7D4E8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Y. Saad, Iterative Methods for Sparse Linear Systems, 2nd ed., SIAM, 2003.</a:t>
            </a:r>
          </a:p>
          <a:p>
            <a:pPr lvl="1"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Ch. 5 — Projection methods (Steepest Descent, MR); Ch. 6–8 — Krylov / CG.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A. Nasedkina, Lecture 12: Projection methods. 1D projection methods. SFU, 2026.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A. Nasedkina, Lecture 10: Direct &amp; iterative methods; general iterative formulation. SFU, 2026.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A. Nasedkina, Lecture 2 (vector &amp; matrix norms); Lecture 6 (positive definite matrices). SFU, 2026.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R. Barrett et al., Templates for the Solution of Linear Systems, SIAM, 1994.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E5EAA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Matrix Market — math.nist.gov/MatrixMarket  (test matrices gr_30_30, bcsstk01).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you!</a:t>
            </a:r>
          </a:p>
          <a:p>
            <a:pPr algn="ctr"/>
            <a:r>
              <a:rPr sz="2600" b="0" i="1">
                <a:solidFill>
                  <a:srgbClr val="C7D4E8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8DE"/>
                </a:solidFill>
                <a:latin typeface="Calibri"/>
              </a:rPr>
              <a:t>Адейеми Коладе Дамилола  •  SDM  •  Numerical Methods of Linear Algebra for Sparse Matrices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